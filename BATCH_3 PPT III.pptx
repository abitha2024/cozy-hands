
<file path=[Content_Types].xml><?xml version="1.0" encoding="utf-8"?>
<Types xmlns="http://schemas.openxmlformats.org/package/2006/content-types">
  <Default ContentType="image/vnd.ms-photo" Extension="wdp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16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tags+xml" PartName="/ppt/tags/tag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9144000" cx="16256000"/>
  <p:notesSz cx="6858000" cy="9144000"/>
  <p:custDataLst>
    <p:tags r:id="rId24"/>
  </p:custDataLst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tags" Target="tags/tag1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89981E-7D37-4D55-8B6B-9981EAE2C63E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8DCAB-E21C-4724-8988-3870FBAC14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529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8DCAB-E21C-4724-8988-3870FBAC14C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618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EF32-4DE5-3F50-799C-201BB617C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ack Background Landscape - Live Wallpaper HD">
            <a:extLst>
              <a:ext uri="{FF2B5EF4-FFF2-40B4-BE49-F238E27FC236}">
                <a16:creationId xmlns:a16="http://schemas.microsoft.com/office/drawing/2014/main" id="{76564338-FCD3-02E1-3784-B5ED63CD8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24427"/>
            <a:ext cx="16205200" cy="911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EBB377A6-14E7-4DAA-106B-2EC578EA3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47" y="1447800"/>
            <a:ext cx="14392306" cy="71403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2F9FD5-3DEA-A261-0843-232B0DD60BBC}"/>
              </a:ext>
            </a:extLst>
          </p:cNvPr>
          <p:cNvSpPr txBox="1"/>
          <p:nvPr/>
        </p:nvSpPr>
        <p:spPr>
          <a:xfrm>
            <a:off x="4241800" y="274449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  <a:cs typeface="Cascadia Mono SemiBold" panose="020B0609020000020004" pitchFamily="49" charset="0"/>
              </a:rPr>
              <a:t>LITERATURE SURVEY</a:t>
            </a:r>
            <a:endParaRPr lang="en-IN" sz="5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  <a:cs typeface="Cascadia Mono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58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ack Background Landscape - Live Wallpaper HD">
            <a:extLst>
              <a:ext uri="{FF2B5EF4-FFF2-40B4-BE49-F238E27FC236}">
                <a16:creationId xmlns:a16="http://schemas.microsoft.com/office/drawing/2014/main" id="{809B5432-3FAA-47F6-B415-0693973D3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24427"/>
            <a:ext cx="16205200" cy="911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340486-25A8-BF8E-9963-7B00DC8BA0FD}"/>
              </a:ext>
            </a:extLst>
          </p:cNvPr>
          <p:cNvSpPr txBox="1"/>
          <p:nvPr/>
        </p:nvSpPr>
        <p:spPr>
          <a:xfrm>
            <a:off x="4241800" y="274449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  <a:cs typeface="Cascadia Mono SemiBold" panose="020B0609020000020004" pitchFamily="49" charset="0"/>
              </a:rPr>
              <a:t>LITERATURE SURVEY</a:t>
            </a:r>
            <a:endParaRPr lang="en-IN" sz="5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  <a:cs typeface="Cascadia Mono SemiBold" panose="020B0609020000020004" pitchFamily="49" charset="0"/>
            </a:endParaRP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CCBC1DEB-F398-E1B5-841B-690C7C1B7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1460501"/>
            <a:ext cx="13800257" cy="687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42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ack Background Landscape - Live Wallpaper HD" id="1029" name="Google Shape;102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5400" y="24427"/>
            <a:ext cx="16205200" cy="9119573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"/>
          <p:cNvSpPr txBox="1"/>
          <p:nvPr/>
        </p:nvSpPr>
        <p:spPr>
          <a:xfrm>
            <a:off x="5232400" y="280799"/>
            <a:ext cx="883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5400">
                <a:solidFill>
                  <a:schemeClr val="accent3"/>
                </a:solidFill>
                <a:latin typeface="Algerian"/>
                <a:ea typeface="Algerian"/>
                <a:cs typeface="Algerian"/>
                <a:sym typeface="Algerian"/>
              </a:rPr>
              <a:t>REFERENCES</a:t>
            </a:r>
            <a:endParaRPr b="1" sz="5400">
              <a:solidFill>
                <a:schemeClr val="accent3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031" name="Google Shape;1031;p1"/>
          <p:cNvSpPr txBox="1"/>
          <p:nvPr/>
        </p:nvSpPr>
        <p:spPr>
          <a:xfrm>
            <a:off x="2124791" y="1507333"/>
            <a:ext cx="13481700" cy="6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Agyenim, F., Hewitt, N., Eames, P., and Smyth, M., “A Review of Materials, Heat       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and Phase Change Problem Formulation for Latent Heat Thermal Energy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Systems,” Renewable and Sustainable Energy Reviews, vol. 14, no. 2, pp.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615–628, 2010.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Castellani, J., and Young, T., “Human Physiological Responses to Cold Exposure: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Acute Responses and Acclimatization to Prolonged Exposure,” Comprehensive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Physiology, vol. 6, no. 1, pp. 443–469, 2016.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Cho, G., “Smart Clothing: Technology and Applications,” CRC Press, vol.8, no. 4,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pp. 433–479, 2009.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Daanen, D. A., “Finger Cold-Induced Vasodilation: A Review,” European Journal of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Physiology, vol. 89, no. 5, pp. 411–426, 2003.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Farid, M. M., Khudhair, A. M., Razack, S. A. K., and Al-Hallaj, S., “A Review on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Change Energy Storage: Materials and Applications,” Energy Conversion and </a:t>
            </a:r>
            <a:endParaRPr/>
          </a:p>
          <a:p>
            <a:pPr indent="0" lvl="0" marL="114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Management, vol. 45, no. 9–10, pp. 1597–1615, 2004.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A1E4-2F22-E8BD-CB0F-5A383B82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ack Background Landscape - Live Wallpaper HD">
            <a:extLst>
              <a:ext uri="{FF2B5EF4-FFF2-40B4-BE49-F238E27FC236}">
                <a16:creationId xmlns:a16="http://schemas.microsoft.com/office/drawing/2014/main" id="{3E590FD2-5F5C-322C-7FC6-32F9DAC4C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lasticWrap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24427"/>
            <a:ext cx="16205200" cy="911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E10612-5B38-4E8E-F7FF-3770D5A15010}"/>
              </a:ext>
            </a:extLst>
          </p:cNvPr>
          <p:cNvSpPr txBox="1"/>
          <p:nvPr/>
        </p:nvSpPr>
        <p:spPr>
          <a:xfrm>
            <a:off x="3822700" y="346670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5400" b="1" dirty="0">
                <a:ln/>
                <a:solidFill>
                  <a:schemeClr val="accent3"/>
                </a:solidFill>
                <a:latin typeface="Algerian" panose="04020705040A02060702" pitchFamily="82" charset="0"/>
                <a:cs typeface="Cascadia Mono SemiBold" panose="020B0609020000020004" pitchFamily="49" charset="0"/>
              </a:rPr>
              <a:t>CONFERENCE ACCEPTANCE</a:t>
            </a:r>
            <a:endParaRPr lang="en-IN" sz="5400" b="1" dirty="0">
              <a:ln/>
              <a:solidFill>
                <a:schemeClr val="accent3"/>
              </a:solidFill>
              <a:latin typeface="Algerian" panose="04020705040A02060702" pitchFamily="82" charset="0"/>
              <a:cs typeface="Cascadia Mono SemiBold" panose="020B06090200000200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818705-D31A-4FD3-8723-4CC90051A5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130" y="1270000"/>
            <a:ext cx="6835356" cy="752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68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mv="urn:schemas-microsoft-com:mac:vml">
  <p:tag name="may_ignore_ucw" val="true"/>
  <p:tag name="ppt/slides/slide16.xml" val="1816895827"/>
  <p:tag name="ppt/slides/slide1.xml" val="563407927"/>
  <p:tag name="ppt/slides/slide2.xml" val="563407927"/>
  <p:tag name="ppt/slides/slide3.xml" val="563407927"/>
  <p:tag name="ppt/slides/slide4.xml" val="563407927"/>
  <p:tag name="ppt/slides/slide5.xml" val="563407927"/>
  <p:tag name="ppt/slides/slide6.xml" val="4225592322"/>
  <p:tag name="ppt/slides/slide7.xml" val="1972566087"/>
  <p:tag name="ppt/slides/slide8.xml" val="563407927"/>
  <p:tag name="ppt/slides/slide9.xml" val="563407927"/>
  <p:tag name="ppt/slides/slide10.xml" val="563407927"/>
  <p:tag name="ppt/slides/slide11.xml" val="563407927"/>
  <p:tag name="ppt/slides/slide12.xml" val="563407927"/>
  <p:tag name="ppt/slides/slide13.xml" val="563407927"/>
  <p:tag name="ppt/slides/slide14.xml" val="563407927"/>
  <p:tag name="ppt/slides/slide15.xml" val="563407927"/>
  <p:tag name="ppt/slides/slide17.xml" val="4089947793"/>
  <p:tag name="ppt/slides/slide18.xml" val="563407927"/>
  <p:tag name="ppt/slideMasters/slideMaster1.xml" val="1887142349"/>
  <p:tag name="ppt/notesSlides/notesSlide1.xml" val="1595801156"/>
  <p:tag name="ppt/slideLayouts/slideLayout1.xml" val="1163845059"/>
  <p:tag name="ppt/slideLayouts/slideLayout2.xml" val="2151804604"/>
  <p:tag name="ppt/slideLayouts/slideLayout3.xml" val="246642913"/>
  <p:tag name="ppt/slideLayouts/slideLayout4.xml" val="3070280184"/>
  <p:tag name="ppt/slideLayouts/slideLayout5.xml" val="2507137497"/>
  <p:tag name="ppt/slideLayouts/slideLayout6.xml" val="3397975548"/>
  <p:tag name="ppt/slideLayouts/slideLayout7.xml" val="288852734"/>
  <p:tag name="ppt/slideLayouts/slideLayout8.xml" val="1159447875"/>
  <p:tag name="ppt/slideLayouts/slideLayout9.xml" val="522820703"/>
  <p:tag name="ppt/slideLayouts/slideLayout10.xml" val="961072301"/>
  <p:tag name="ppt/slideLayouts/slideLayout11.xml" val="2032282347"/>
  <p:tag name="ppt/notesMasters/notesMaster1.xml" val="732910014"/>
  <p:tag name="ppt/theme/theme1.xml" val="956944377"/>
  <p:tag name="ppt/theme/theme2.xml" val="1572619131"/>
  <p:tag name="ppt/media/image1.png" val="3915121738"/>
  <p:tag name="ppt/media/image2.png" val="3266846123"/>
  <p:tag name="ppt/media/image3.png" val="1283816703"/>
  <p:tag name="ppt/media/image4.png" val="161463345"/>
  <p:tag name="ppt/media/image5.png" val="1143092169"/>
  <p:tag name="ppt/media/image6.png" val="1324420434"/>
  <p:tag name="ppt/media/hdphoto1.wdp" val="1333029126"/>
  <p:tag name="ppt/media/image7.png" val="1706411062"/>
  <p:tag name="ppt/media/image14.png" val="1258148428"/>
  <p:tag name="ppt/media/image16.png" val="792541826"/>
  <p:tag name="ppt/media/image10.png" val="7083714"/>
  <p:tag name="ppt/media/image8.png" val="625284364"/>
  <p:tag name="ppt/media/image18.png" val="1306426320"/>
  <p:tag name="ppt/media/image19.png" val="158804498"/>
  <p:tag name="ppt/media/image15.png" val="1505288364"/>
  <p:tag name="ppt/media/image9.png" val="26983015"/>
  <p:tag name="ppt/media/image11.png" val="560950057"/>
  <p:tag name="ppt/media/image17.png" val="3837817991"/>
  <p:tag name="ppt/media/image12.png" val="3957896889"/>
  <p:tag name="ppt/media/image13.png" val="27318446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